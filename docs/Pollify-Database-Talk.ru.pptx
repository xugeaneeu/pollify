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3" y="1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921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Здравствуйте, меня зовут Даниил. Сегодня я расскажу о Pollify — сервисе для опросов и голосований. Основной фокус — как мы опираемся на Postgres для кодирования доменных правил, и как эти решения соотносятся с теорией баз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Вся предметная область укладывается в семь таблиц. Users, polls и options для фиксированных вариантов. Интересная пара — poll_participants и votes: мы храним факт участия отдельно от самого выбора. Reports и report_reviews отвечают за модерацию. Два enum-типа для статуса жалобы и решения review, три триггера, девять индексов — всё в одном файле миграции.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Главное архитектурное решение. Нам нужны два инварианта: один пользователь — один голос; и для анонимных опросов — никакой связи между пользователем и выбором. Это разделение на две таблицы решает обе задачи на уровне схемы. У poll_participants составной первичный ключ — poll_id и user_id вместе — повторное участие физически невозможно. Votes хранит сам ответ, но user_id там nullable. Для анонимных опросов оставляем user_id пустым. Связи между пользователем и голосом просто нет в строке. Это аналог тайного голосования в БД — разделение идентичности и данных — обеспеченное структурой, а не runtime-проверками. Даже прямой SQL не восстановит связь.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Пять CHECK-ограничений и два составных PK делают почти всю работу. End_at позже start_at. Multi-choice требует max_choices ≥ 2. Multi-choice и свободный текст взаимоисключают друг друга. Строка votes несёт option XOR custom_text — никогда оба, никогда ни одного. Роль ограничена USER или ADMIN. Это правило 10 Кодда: ограничения целостности должны храниться в каталоге, а не в прикладных программах. Каждое правило закрывает класс ошибок на границе данных — некорректный обработчик или ручной скрипт не смогут его обойти.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Некоторые инварианты требуют процедурной логики уровня строки, которую CHECK выразить не может. Три триггера. Только админы могут вставлять строки в report_reviews. Админ не может рассматривать собственную жалобу — этот триггер даже джойнит reports с report_reviews. Option голоса должен принадлежать тому же poll, что и сам голос — ссылочная целостность между таблицами. Приложение валидирует первым для быстрой обратной связи; триггеры — последняя линия, они срабатывают даже при прямом доступе к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Отправка голоса и review админа — обе атомарные транзакции. Отправка голоса вставляет в poll_participants и votes в одной транзакции. Если пользователь пытается проголосовать дважды — срабатывает UNIQUE-нарушение на poll_participants, мы маппим код 23505 в чистый 409 Conflict, а вставки в votes откатываются. Review админа вставляет в report_reviews и обновляет строку report в одной транзакции; триггер проверяет роль и self-review до того, как что-либо успешно выполнится. Логика кворума — чистая функция над списком reviews, выполняемая приложением прямо перед UPDATE. ACID плюс UNIQUE заменяет блокировки на уровне приложения.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Итог. Что взял на себя Postgres: уникальность, ссылочная целостность, доменная типизация через enum, межстрочные инварианты через триггеры, атомарность многотабличных записей. Что осталось в приложении: всё, что зависит от текущего времени — вычисление scheduled / active / completed / hidden. Сам порог кворума, параметризованный. Агрегации и пагинация. Схема как контракт: каждое бизнес-правило, записанное один раз в одной миграции, живёт вечно — переживёт любой код, который будет работать с этой базой. Спасибо.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64592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POLLIFY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Голосования с кворумной модерацией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C7D2FE"/>
                </a:solidFill>
                <a:latin typeface="Calibri"/>
              </a:rPr>
              <a:t>Проектирование БД через призму теории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7D2FE"/>
                </a:solidFill>
                <a:latin typeface="Calibri"/>
              </a:rPr>
              <a:t>Postgres 17 · 7 таблиц · 2 ENUM-типа · 3 триггера · 9 индексов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01 · ОБЗОР СХЕМЫ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Семь таблиц описывают всю предметную область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760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600" dirty="0">
                <a:solidFill>
                  <a:srgbClr val="111827"/>
                </a:solidFill>
                <a:latin typeface="Calibri"/>
              </a:rPr>
              <a:t>▸  users —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идентичность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роль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(USER / ADMIN)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 dirty="0">
                <a:solidFill>
                  <a:srgbClr val="111827"/>
                </a:solidFill>
                <a:latin typeface="Calibri"/>
              </a:rPr>
              <a:t>▸  polls —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заголовок</a:t>
            </a:r>
            <a:r>
              <a:rPr sz="160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вопрос</a:t>
            </a:r>
            <a:r>
              <a:rPr sz="160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расписание</a:t>
            </a:r>
            <a:r>
              <a:rPr sz="160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флаги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настроек</a:t>
            </a:r>
            <a:endParaRPr sz="1600" dirty="0">
              <a:solidFill>
                <a:srgbClr val="111827"/>
              </a:solidFill>
              <a:latin typeface="Calibri"/>
            </a:endParaRP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 dirty="0">
                <a:solidFill>
                  <a:srgbClr val="111827"/>
                </a:solidFill>
                <a:latin typeface="Calibri"/>
              </a:rPr>
              <a:t>▸  options —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варианты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для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опросов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с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фиксированным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выбором</a:t>
            </a:r>
            <a:endParaRPr sz="1600" dirty="0">
              <a:solidFill>
                <a:srgbClr val="111827"/>
              </a:solidFill>
              <a:latin typeface="Calibri"/>
            </a:endParaRP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 dirty="0">
                <a:solidFill>
                  <a:srgbClr val="111827"/>
                </a:solidFill>
                <a:latin typeface="Calibri"/>
              </a:rPr>
              <a:t>▸ 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poll_participants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кто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голосовал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(PK =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poll_id</a:t>
            </a:r>
            <a:r>
              <a:rPr sz="160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user_id</a:t>
            </a:r>
            <a:r>
              <a:rPr sz="1600" dirty="0">
                <a:solidFill>
                  <a:srgbClr val="111827"/>
                </a:solidFill>
                <a:latin typeface="Calibri"/>
              </a:rPr>
              <a:t>)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 dirty="0">
                <a:solidFill>
                  <a:srgbClr val="111827"/>
                </a:solidFill>
                <a:latin typeface="Calibri"/>
              </a:rPr>
              <a:t>▸  votes —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что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выбрано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(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option_id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XOR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custom_text</a:t>
            </a:r>
            <a:r>
              <a:rPr sz="1600" dirty="0">
                <a:solidFill>
                  <a:srgbClr val="111827"/>
                </a:solidFill>
                <a:latin typeface="Calibri"/>
              </a:rPr>
              <a:t>)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 dirty="0">
                <a:solidFill>
                  <a:srgbClr val="111827"/>
                </a:solidFill>
                <a:latin typeface="Calibri"/>
              </a:rPr>
              <a:t>▸  reports —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жалобы</a:t>
            </a:r>
            <a:r>
              <a:rPr sz="160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поданные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пользователями</a:t>
            </a:r>
            <a:endParaRPr sz="1600" dirty="0">
              <a:solidFill>
                <a:srgbClr val="111827"/>
              </a:solidFill>
              <a:latin typeface="Calibri"/>
            </a:endParaRP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 dirty="0">
                <a:solidFill>
                  <a:srgbClr val="111827"/>
                </a:solidFill>
                <a:latin typeface="Calibri"/>
              </a:rPr>
              <a:t>▸ 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report_reviews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решения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админов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(PK =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report_id</a:t>
            </a:r>
            <a:r>
              <a:rPr sz="1600" dirty="0">
                <a:solidFill>
                  <a:srgbClr val="111827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admin_id</a:t>
            </a:r>
            <a:r>
              <a:rPr sz="1600" dirty="0">
                <a:solidFill>
                  <a:srgbClr val="111827"/>
                </a:solidFill>
                <a:latin typeface="Calibri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828800"/>
            <a:ext cx="45720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2011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POSTGRES 17 — СОСТАВ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468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 err="1">
                <a:solidFill>
                  <a:srgbClr val="6B7280"/>
                </a:solidFill>
                <a:latin typeface="Calibri"/>
              </a:rPr>
              <a:t>Таблицы</a:t>
            </a:r>
            <a:endParaRPr sz="1200" b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52560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926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ENUM-типы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2 — report_status, review_decision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CHECK-ограничения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19336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111827"/>
                </a:solidFill>
                <a:latin typeface="Calibri"/>
              </a:rPr>
              <a:t>5 (</a:t>
            </a:r>
            <a:r>
              <a:rPr sz="1200" b="0" dirty="0" err="1">
                <a:solidFill>
                  <a:srgbClr val="111827"/>
                </a:solidFill>
                <a:latin typeface="Calibri"/>
              </a:rPr>
              <a:t>расписание</a:t>
            </a:r>
            <a:r>
              <a:rPr sz="1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111827"/>
                </a:solidFill>
                <a:latin typeface="Calibri"/>
              </a:rPr>
              <a:t>max_choices</a:t>
            </a:r>
            <a:r>
              <a:rPr sz="1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111827"/>
                </a:solidFill>
                <a:latin typeface="Calibri"/>
              </a:rPr>
              <a:t>смешанный</a:t>
            </a:r>
            <a:r>
              <a:rPr sz="1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Calibri"/>
              </a:rPr>
              <a:t>режим</a:t>
            </a:r>
            <a:r>
              <a:rPr sz="1200" b="0" dirty="0">
                <a:solidFill>
                  <a:srgbClr val="111827"/>
                </a:solidFill>
                <a:latin typeface="Calibri"/>
              </a:rPr>
              <a:t>, payload </a:t>
            </a:r>
            <a:r>
              <a:rPr sz="1200" b="0" dirty="0" err="1">
                <a:solidFill>
                  <a:srgbClr val="111827"/>
                </a:solidFill>
                <a:latin typeface="Calibri"/>
              </a:rPr>
              <a:t>голоса</a:t>
            </a:r>
            <a:r>
              <a:rPr sz="1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111827"/>
                </a:solidFill>
                <a:latin typeface="Calibri"/>
              </a:rPr>
              <a:t>роль</a:t>
            </a:r>
            <a:r>
              <a:rPr sz="1200" b="0" dirty="0">
                <a:solidFill>
                  <a:srgbClr val="111827"/>
                </a:solidFill>
                <a:latin typeface="Calibri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840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Составные PK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840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2 (poll_participants, report_reviews)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2976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Внешние ключи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297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11 с ON DELETE CASCADE / SET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754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Триггеры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754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3 (review только для админа, запрет self-review, option принадлежит poll)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212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Индексы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212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9 (FK + фильтр видимости)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проектирование БД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02 · ПРИЁМ ДВУХ ТАБЛИЦ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Анонимность через структуру, а не шифрованием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Цель: гарантировать «один пользователь — один голос», не сохраняя связь пользователь→выбор для анонимных опросов.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120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2DA8"/>
                </a:solidFill>
                <a:latin typeface="Calibri"/>
              </a:rPr>
              <a:t>poll_participants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КТО участвовал — всегда фиксируется.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46120"/>
            <a:ext cx="4572000" cy="96012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8680" y="3386120"/>
            <a:ext cx="4252000" cy="68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PRIMARY KEY (poll_id, user_id)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voted_at TIMESTAMPTZ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468880"/>
            <a:ext cx="5120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2DA8"/>
                </a:solidFill>
                <a:latin typeface="Calibri"/>
              </a:rPr>
              <a:t>votes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ЧТО выбрано — user_id NULL для анонимных.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246120"/>
            <a:ext cx="4572000" cy="96012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89400" y="3386120"/>
            <a:ext cx="4252000" cy="68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user_id UUID NULL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option_id UUID NULL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custom_text TEXT NULL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ТЕОРИЯ БАЗ 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11827"/>
                </a:solidFill>
                <a:latin typeface="Calibri"/>
              </a:rPr>
              <a:t>Идентичность ⊥ выбор: разделяя два отношения, инвариант уникальности обеспечивается декларативно (PK),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11827"/>
                </a:solidFill>
                <a:latin typeface="Calibri"/>
              </a:rPr>
              <a:t>а связь пользователь→голос разрывается на уровне схемы — анонимность становится структурным свойством, а не runtime-проверкой.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проектирование БД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03 · ДЕКЛАРАТИВНАЯ ЦЕЛОСТНОСТЬ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Пять CHECK и два составных PK заменяют десятки проверок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49440" cy="402336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80" y="1968800"/>
            <a:ext cx="6629440" cy="374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(end_at &gt; start_at)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(NOT is_multiple_choice OR max_choices &gt; 1)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(NOT (is_multiple_choice AND allow_custom_answer))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    (option_id IS NOT NULL AND custom_text IS NULL) OR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    (option_id IS NULL     AND custom_text IS NOT NULL)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(role IN ('USER', 'ADMIN'))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PRIMARY KEY (poll_id, user_id)        -- poll_participants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PRIMARY KEY (report_id, admin_id)     -- report_reviews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828800"/>
            <a:ext cx="3657600" cy="40233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ПРАВИЛО 10 КОДДА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286000"/>
            <a:ext cx="32918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«Ограничения целостности должны определяться и храниться в каталоге, а не в прикладных программах.»</a:t>
            </a:r>
          </a:p>
          <a:p>
            <a:pPr algn="l">
              <a:lnSpc>
                <a:spcPct val="135000"/>
              </a:lnSpc>
            </a:pPr>
            <a:endParaRPr sz="1200" b="0">
              <a:solidFill>
                <a:srgbClr val="111827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Каждое правило закрывает класс ошибок на границе данных: некорректный обработчик, ручной скрипт или будущий микросервис не смогут его обойти.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проектирование БД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04 · ТРИГГЕРЫ — ВТОРАЯ ЛИНИЯ ОБОРОНЫ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Правила уровня строки, которые не выразить через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>
                <a:solidFill>
                  <a:srgbClr val="111827"/>
                </a:solidFill>
                <a:latin typeface="Calibri"/>
              </a:rPr>
              <a:t>▸  report_reviews_admin_only — каждый INSERT/UPDATE проверяет, что роль актора = ADMIN.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500">
                <a:solidFill>
                  <a:srgbClr val="111827"/>
                </a:solidFill>
                <a:latin typeface="Calibri"/>
              </a:rPr>
              <a:t>▸  report_reviews_no_self_review — админ не может рассматривать свою же жалобу.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500">
                <a:solidFill>
                  <a:srgbClr val="111827"/>
                </a:solidFill>
                <a:latin typeface="Calibri"/>
              </a:rPr>
              <a:t>▸  votes_option_matches_poll — option_id голоса должен принадлежать тому же poll_id (межтабличная ссылочная проверка).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828800"/>
            <a:ext cx="3657600" cy="40233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ОБОРОНА В ГЛУБИНУ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286000"/>
            <a:ext cx="32918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Слой приложения валидирует первым — быстрая обратная связь, структурированные ошибки.</a:t>
            </a:r>
          </a:p>
          <a:p>
            <a:pPr algn="l">
              <a:lnSpc>
                <a:spcPct val="135000"/>
              </a:lnSpc>
            </a:pPr>
            <a:endParaRPr sz="1200" b="0">
              <a:solidFill>
                <a:srgbClr val="111827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Триггеры — последняя линия: даже при прямом доступе к БД инварианты соблюдаются. Это процедурный аналог декларативных CHECK: проверки уровня строки между таблицами, недоступные CHECK.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6858000" cy="137160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080" y="4803440"/>
            <a:ext cx="6538000" cy="109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CREATE TRIGGER report_reviews_no_self_review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BEFORE INSERT OR UPDATE ON report_reviews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FOR EACH ROW EXECUTE FUNCTION ensure_report_review_not_self();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проектирование БД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05 · ACID И КВОРУМ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Голос и review как атомарные транзакции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ОТПРАВКА ГОЛОСА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Одна транзакция на две таблицы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34640"/>
            <a:ext cx="4937760" cy="246888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8680" y="2974640"/>
            <a:ext cx="4617760" cy="218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BEGIN;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INSERT INTO poll_participants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  (poll_id, user_id, voted_at)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VALUES ($1, $2, now());     -- 23505 ⇒ 409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INSERT INTO votes (...)     -- N строк при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VALUES (...);               -- multi-choice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COMMIT;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REVIEW АДМИНА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Строка review и строка report — синхронно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834640"/>
            <a:ext cx="4937760" cy="246888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7960" y="2974640"/>
            <a:ext cx="4617760" cy="218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BEGIN;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INSERT INTO report_reviews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  (report_id, admin_id, decision)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VALUES ($1, $2, $3);   -- сработают триггеры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UPDATE reports SET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  status, approval_count, rejection_count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WHERE id = $1;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COMMIT;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669280"/>
            <a:ext cx="11064240" cy="640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ACID + UNIQUE = без блокировок на уровне приложения. Повторный голос, дубль review, гонка? Ограничение сработает первым; код 23505 (unique violation) → чистый 409 Conflict.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проектирование БД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06 · 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Что взял на себя Postgres, что осталось в приложении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ОТДЕЛЕГИРОВАНО 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486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Уникальность — составные PK не дают повторных голосов и review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Ссылочная целостность — FK с CASCADE и ON DELETE SET NULL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Доменные типы — enum для report_status, review_decision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Межстрочные инварианты — триггеры на роль ADMIN, self-review, привязку option к poll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Атомарность — голос = participation + N votes в одной транзакции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2400E"/>
                </a:solidFill>
                <a:latin typeface="Calibri"/>
              </a:rPr>
              <a:t>ОСТАЛОСЬ В ПРИЛОЖЕНИИ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486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Вычисляемый статус (scheduled / active / completed / hidden) — зависит от now()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Порог кворума — чистая функция над списком reviews, параметризованная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Стратегия записи для анонимности — votes.user_id = NULL при poll.is_anonymous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Агрегации — подсчёт по вариантам, проценты, списки голосовавших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Кэширование, постраничный подсчёт, индекс-дружественные запросы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69280"/>
            <a:ext cx="1106424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793076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FFFFFF"/>
                </a:solidFill>
                <a:latin typeface="Calibri"/>
              </a:rPr>
              <a:t>Схема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как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контракт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каждое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бизнес-правило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,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записанное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однажды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одной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миграции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,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живёт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вечно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проектирование БД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1609</Words>
  <Application>Microsoft Office PowerPoint</Application>
  <PresentationFormat>Широкоэкранный</PresentationFormat>
  <Paragraphs>130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xugeaneeu だ</cp:lastModifiedBy>
  <cp:revision>5</cp:revision>
  <dcterms:created xsi:type="dcterms:W3CDTF">2013-01-27T09:14:16Z</dcterms:created>
  <dcterms:modified xsi:type="dcterms:W3CDTF">2026-05-09T05:33:05Z</dcterms:modified>
  <cp:category/>
</cp:coreProperties>
</file>